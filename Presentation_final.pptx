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Session Affinity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C8DC"/>
                </a:solidFill>
                <a:latin typeface="Calibri"/>
              </a:defRPr>
            </a:pPr>
            <a:r>
              <a:t>A High-Performance C++17 Layer-4 Load Balancer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C8"/>
                </a:solidFill>
                <a:latin typeface="Calibri"/>
              </a:defRPr>
            </a:pPr>
            <a:r>
              <a:t>Sticky Sessions via 5-Tuple Hashing  •  Consistent Hashing  •  Dual LB Failover</a:t>
            </a:r>
          </a:p>
          <a:p>
            <a:pPr algn="ctr">
              <a:spcBef>
                <a:spcPts val="600"/>
              </a:spcBef>
              <a:defRPr sz="1600" b="0">
                <a:solidFill>
                  <a:srgbClr val="B4B4C8"/>
                </a:solidFill>
                <a:latin typeface="Calibri"/>
              </a:defRPr>
            </a:pPr>
            <a:r>
              <a:t>Rate Limiting  •  Security Pipeline  •  Full Audit Logging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 algn="ctr">
              <a:spcBef>
                <a:spcPts val="600"/>
              </a:spcBef>
              <a:defRPr sz="1400" b="1">
                <a:solidFill>
                  <a:srgbClr val="E94560"/>
                </a:solidFill>
                <a:latin typeface="Calibri"/>
              </a:defRPr>
            </a:pPr>
            <a:r>
              <a:t>C++17  •  STL Only  •  Zero External Dependencies  •  14/14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Calibri"/>
              </a:defRPr>
            </a:pPr>
            <a:r>
              <a:t>System Architecture — Block Diagram</a:t>
            </a:r>
          </a:p>
        </p:txBody>
      </p:sp>
      <p:pic>
        <p:nvPicPr>
          <p:cNvPr id="3" name="Picture 2" descr="architecture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3152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Calibri"/>
              </a:defRPr>
            </a:pPr>
            <a:r>
              <a:t>Request Flow — Sequence Diagram</a:t>
            </a:r>
          </a:p>
        </p:txBody>
      </p:sp>
      <p:pic>
        <p:nvPicPr>
          <p:cNvPr id="3" name="Picture 2" descr="request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05840"/>
            <a:ext cx="64008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Calibri"/>
              </a:defRPr>
            </a:pPr>
            <a:r>
              <a:t>6-Stage Pipeline:</a:t>
            </a:r>
            <a:br/>
            <a:br/>
            <a:r>
              <a:t>1. LB Active Check</a:t>
            </a:r>
            <a:br/>
            <a:r>
              <a:t>2. Security Validation</a:t>
            </a:r>
            <a:br/>
            <a:r>
              <a:t>3. Rate Limiting</a:t>
            </a:r>
            <a:br/>
            <a:r>
              <a:t>4. Session Routing</a:t>
            </a:r>
            <a:br/>
            <a:r>
              <a:t>5. Backend Forwarding</a:t>
            </a:r>
            <a:br/>
            <a:r>
              <a:t>6. Response Relay</a:t>
            </a:r>
            <a:br/>
            <a:br/>
            <a:r>
              <a:t>Fail-fast design:</a:t>
            </a:r>
            <a:br/>
            <a:r>
              <a:t>each stage short-</a:t>
            </a:r>
            <a:br/>
            <a:r>
              <a:t>circuits on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Calibri"/>
              </a:defRPr>
            </a:pPr>
            <a:r>
              <a:t>Failover — Backend &amp; Load Balancer</a:t>
            </a:r>
          </a:p>
        </p:txBody>
      </p:sp>
      <p:pic>
        <p:nvPicPr>
          <p:cNvPr id="3" name="Picture 2" descr="failov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05840"/>
            <a:ext cx="68580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0972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3460"/>
                </a:solidFill>
                <a:latin typeface="Calibri"/>
              </a:defRPr>
            </a:pPr>
            <a:r>
              <a:t>Backend Failure: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6478"/>
                </a:solidFill>
                <a:latin typeface="Calibri"/>
              </a:defRPr>
            </a:pPr>
            <a:r>
              <a:t>• Remove 150 vnodes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6478"/>
                </a:solidFill>
                <a:latin typeface="Calibri"/>
              </a:defRPr>
            </a:pPr>
            <a:r>
              <a:t>• ~12.5% keys redistribute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6478"/>
                </a:solidFill>
                <a:latin typeface="Calibri"/>
              </a:defRPr>
            </a:pPr>
            <a:r>
              <a:t>• Sessions auto-reassigned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0F3460"/>
                </a:solidFill>
                <a:latin typeface="Calibri"/>
              </a:defRPr>
            </a:pPr>
            <a:r>
              <a:t>LB Failure: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6478"/>
                </a:solidFill>
                <a:latin typeface="Calibri"/>
              </a:defRPr>
            </a:pPr>
            <a:r>
              <a:t>• Heartbeat timeout (3s)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6478"/>
                </a:solidFill>
                <a:latin typeface="Calibri"/>
              </a:defRPr>
            </a:pPr>
            <a:r>
              <a:t>• Standby takes over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6478"/>
                </a:solidFill>
                <a:latin typeface="Calibri"/>
              </a:defRPr>
            </a:pPr>
            <a:r>
              <a:t>• Zero manual intervention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Calibri"/>
              </a:defRPr>
            </a:pPr>
            <a:r>
              <a:t>Security Validation Pipeline</a:t>
            </a:r>
          </a:p>
        </p:txBody>
      </p:sp>
      <p:pic>
        <p:nvPicPr>
          <p:cNvPr id="3" name="Picture 2" descr="securit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14400"/>
            <a:ext cx="54864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0972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3460"/>
                </a:solidFill>
                <a:latin typeface="Calibri"/>
              </a:defRPr>
            </a:pPr>
            <a:r>
              <a:t>6 Layers of Defense: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1. Payload size check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6478"/>
                </a:solidFill>
                <a:latin typeface="Calibri"/>
              </a:defRPr>
            </a:pPr>
            <a:r>
              <a:t>    (≤ 1024 bytes)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2. IPv4 validation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6478"/>
                </a:solidFill>
                <a:latin typeface="Calibri"/>
              </a:defRPr>
            </a:pPr>
            <a:r>
              <a:t>    (0-255, no leading zeros)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3. Port range check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6478"/>
                </a:solidFill>
                <a:latin typeface="Calibri"/>
              </a:defRPr>
            </a:pPr>
            <a:r>
              <a:t>    (1-65535)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4. Protocol whitelist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6478"/>
                </a:solidFill>
                <a:latin typeface="Calibri"/>
              </a:defRPr>
            </a:pPr>
            <a:r>
              <a:t>    (TCP/UDP only)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5. Spoof detection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6478"/>
                </a:solidFill>
                <a:latin typeface="Calibri"/>
              </a:defRPr>
            </a:pPr>
            <a:r>
              <a:t>    (&lt;50 IPs per /24 subnet)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2E"/>
                </a:solidFill>
                <a:latin typeface="Calibri"/>
              </a:defRPr>
            </a:pPr>
            <a:r>
              <a:t>6. Rate limiting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6478"/>
                </a:solidFill>
                <a:latin typeface="Calibri"/>
              </a:defRPr>
            </a:pPr>
            <a:r>
              <a:t>    (100 req/60s sliding window)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Calibri"/>
              </a:defRPr>
            </a:pPr>
            <a:r>
              <a:t>Key Design Tradeoffs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200400"/>
              </a:tblGrid>
              <a:tr h="838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We Chose This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Tradeoff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unordered_map for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O(1) average lookup — critical for high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O(N) worst-case on hash collisions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Consistent hashing (150 vnodes)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Only ~12.5% sessions redistribute on failure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Distribution is approximate, not perfectly uniform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Sliding window rate limiter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Exact fairness + doubles as audit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More memory than a simple counter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Lazy session expiry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background threads — simpler, no concurrency bugs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Dead sessions linger until cleanup called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Active-passive 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Zero split-brain risk — one LB routes at a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Standby sits idle until primary fails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Scope of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1. Real Network Protocol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57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Replace in-process simulation with actual UDP sockets (sendto/recvfrom) for real client–server communication over the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2. Separate Client Binary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46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Extract client logic into its own executable that sends requests to the LB over the network, making the system truly distributed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3. Multithreaded Request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Use a thread pool to process requests in parallel across CPU cores, with each thread handling a subset of incoming 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4. Lock-Free Data Structures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623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Replace mutex-guarded unordered_map with a lock-free concurrent hash map (CAS-based) to eliminate contention on the session table hot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